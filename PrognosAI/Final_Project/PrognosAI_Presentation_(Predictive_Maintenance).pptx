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3" r:id="rId13"/>
    <p:sldId id="265" r:id="rId14"/>
    <p:sldId id="268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18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74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27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57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38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72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759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232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229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0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745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9597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439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43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632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729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480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24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60" y="1291472"/>
            <a:ext cx="8370277" cy="3094259"/>
          </a:xfrm>
        </p:spPr>
        <p:txBody>
          <a:bodyPr>
            <a:normAutofit fontScale="90000"/>
          </a:bodyPr>
          <a:lstStyle/>
          <a:p>
            <a:pPr algn="ctr"/>
            <a:r>
              <a:rPr dirty="0"/>
              <a:t>PrognosAI: AI-Driven Predictive Maintenance System Using Time-Series Sensor Data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4262511"/>
            <a:ext cx="7080026" cy="1491175"/>
          </a:xfrm>
        </p:spPr>
        <p:txBody>
          <a:bodyPr>
            <a:normAutofit/>
          </a:bodyPr>
          <a:lstStyle/>
          <a:p>
            <a:endParaRPr lang="en-IN" dirty="0"/>
          </a:p>
          <a:p>
            <a:pPr algn="l"/>
            <a:r>
              <a:rPr sz="2000" dirty="0"/>
              <a:t>Prepared by: </a:t>
            </a:r>
            <a:r>
              <a:rPr lang="en-US" sz="2000" dirty="0"/>
              <a:t>Shivani Sharma</a:t>
            </a:r>
          </a:p>
          <a:p>
            <a:pPr algn="l"/>
            <a:r>
              <a:rPr sz="2000" dirty="0"/>
              <a:t>Dataset: NASA Turbofan Jet Engine (CMAPSS)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dirty="0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     PrognosAI is an advanced AI-based maintenance prediction framework designed to determine the Remaining Useful Life (RUL) of turbofan engines through the analysis of time-series sensor information. The system utilizes deep learning algorithms, intelligent alert mechanisms, and interactive dashboards to deliver clear, data-driven insights. This approach helps improve maintenance scheduling, reduce unexpected failures, and increase overall operational efficiency.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 algn="l"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B892D1-7DC5-8CE8-762A-664774A991A8}"/>
              </a:ext>
            </a:extLst>
          </p:cNvPr>
          <p:cNvSpPr txBox="1"/>
          <p:nvPr/>
        </p:nvSpPr>
        <p:spPr>
          <a:xfrm>
            <a:off x="225084" y="947784"/>
            <a:ext cx="81029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/>
              <a:t>PROJECT OVERVIEW AND GOALS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7295838A-371E-163E-CD8B-1899F4C32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6936"/>
            <a:ext cx="7772400" cy="4459458"/>
          </a:xfrm>
        </p:spPr>
        <p:txBody>
          <a:bodyPr/>
          <a:lstStyle/>
          <a:p>
            <a:pPr>
              <a:buNone/>
            </a:pPr>
            <a:r>
              <a:rPr lang="en-US" dirty="0"/>
              <a:t>	 </a:t>
            </a:r>
            <a:r>
              <a:rPr lang="en-US" sz="2000" dirty="0"/>
              <a:t>Predictive maintenance focuses on anticipating potential equipment malfunctions before they happen, helping to reduce downtime and enhance efficiency. This project applies AI-based techniques to improve engine health monitoring and optimize maintenance strategies.</a:t>
            </a:r>
            <a:endParaRPr lang="en-US" dirty="0"/>
          </a:p>
          <a:p>
            <a:pPr>
              <a:buNone/>
            </a:pPr>
            <a:r>
              <a:rPr lang="en-US" b="1" dirty="0"/>
              <a:t>Goals: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Build an LSTM model to accurately estimate Remaining Useful Life (RUL).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an intelligent alert mechanism for timely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Create a live visualization dashboard to display predictive insights effectively.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F4EE3B6F-F51A-AF57-B8CD-12737FAB9EBC}"/>
              </a:ext>
            </a:extLst>
          </p:cNvPr>
          <p:cNvSpPr txBox="1">
            <a:spLocks/>
          </p:cNvSpPr>
          <p:nvPr/>
        </p:nvSpPr>
        <p:spPr>
          <a:xfrm>
            <a:off x="443132" y="2113932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 Description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037636-4EE4-5430-1F78-6E0D0BF10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Source: The dataset used in this project is the NASA CMAPSS (Commercial Modular Aero-Propulsion System Simulation) dataset.</a:t>
            </a:r>
          </a:p>
          <a:p>
            <a:r>
              <a:rPr lang="en-US" sz="2000" dirty="0"/>
              <a:t> Attributes: It contains readings from 21 engine sensors along with 3 operational condition variables.</a:t>
            </a:r>
          </a:p>
          <a:p>
            <a:r>
              <a:rPr lang="en-US" sz="2000" dirty="0"/>
              <a:t>Instances: Data is collected from multiple turbofan engine units, categorized into subsets FD001 to FD004.</a:t>
            </a:r>
          </a:p>
          <a:p>
            <a:r>
              <a:rPr lang="en-US" sz="2000" dirty="0"/>
              <a:t>Target Variable: The primary prediction goal is the Remaining Useful Life (RUL) of each engine.</a:t>
            </a:r>
            <a:endParaRPr lang="en-IN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latin typeface="Calibri"/>
              </a:defRPr>
            </a:pP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2A03DA-F023-170B-836B-B120B1F22DB0}"/>
              </a:ext>
            </a:extLst>
          </p:cNvPr>
          <p:cNvSpPr/>
          <p:nvPr/>
        </p:nvSpPr>
        <p:spPr>
          <a:xfrm>
            <a:off x="372318" y="1670559"/>
            <a:ext cx="8391378" cy="418253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1 – Data Preparation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825D609-0CA3-718C-FE24-55B7EA41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Imported the </a:t>
            </a:r>
            <a:r>
              <a:rPr lang="en-US" sz="2200" b="1" dirty="0"/>
              <a:t>NASA CMAPSS dataset</a:t>
            </a:r>
            <a:r>
              <a:rPr lang="en-US" sz="2200" dirty="0"/>
              <a:t> for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Computed the </a:t>
            </a:r>
            <a:r>
              <a:rPr lang="en-US" sz="2200" b="1" dirty="0"/>
              <a:t>Remaining Useful Life (RUL)</a:t>
            </a:r>
            <a:r>
              <a:rPr lang="en-US" sz="2200" dirty="0"/>
              <a:t> for each engine at every cycle.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Performed </a:t>
            </a:r>
            <a:r>
              <a:rPr lang="en-US" sz="2200" b="1" dirty="0"/>
              <a:t>data normalization</a:t>
            </a:r>
            <a:r>
              <a:rPr lang="en-US" sz="2200" dirty="0"/>
              <a:t> using the </a:t>
            </a:r>
            <a:r>
              <a:rPr lang="en-US" sz="2200" b="1" dirty="0" err="1"/>
              <a:t>MinMaxScaler</a:t>
            </a:r>
            <a:r>
              <a:rPr lang="en-US" sz="2200" dirty="0"/>
              <a:t> technique to bring values within a common range.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Created </a:t>
            </a:r>
            <a:r>
              <a:rPr lang="en-US" sz="2200" b="1" dirty="0"/>
              <a:t>time-series window sequences</a:t>
            </a:r>
            <a:r>
              <a:rPr lang="en-US" sz="2200" dirty="0"/>
              <a:t> to prepare structured input data suitable for the LSTM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Utilized Python libraries including </a:t>
            </a:r>
            <a:r>
              <a:rPr lang="en-US" sz="2200" b="1" dirty="0"/>
              <a:t>pandas</a:t>
            </a:r>
            <a:r>
              <a:rPr lang="en-US" sz="2200" dirty="0"/>
              <a:t>, </a:t>
            </a:r>
            <a:r>
              <a:rPr lang="en-US" sz="2200" b="1" dirty="0"/>
              <a:t>NumPy</a:t>
            </a:r>
            <a:r>
              <a:rPr lang="en-US" sz="2200" dirty="0"/>
              <a:t>, and </a:t>
            </a:r>
            <a:r>
              <a:rPr lang="en-US" sz="2200" b="1" dirty="0"/>
              <a:t>scikit-learn (preprocessing module)</a:t>
            </a:r>
            <a:r>
              <a:rPr lang="en-US" sz="2200" dirty="0"/>
              <a:t> for data handling and scaling.</a:t>
            </a:r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997"/>
            <a:ext cx="7772400" cy="1371602"/>
          </a:xfrm>
        </p:spPr>
        <p:txBody>
          <a:bodyPr>
            <a:normAutofit/>
          </a:bodyPr>
          <a:lstStyle/>
          <a:p>
            <a:pPr algn="ctr"/>
            <a:r>
              <a:rPr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2 – Model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6598"/>
            <a:ext cx="7772400" cy="465640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Designed an </a:t>
            </a:r>
            <a:r>
              <a:rPr lang="en-US" sz="2000" b="1" dirty="0"/>
              <a:t>LSTM-based neural network</a:t>
            </a:r>
            <a:r>
              <a:rPr lang="en-US" sz="2000" dirty="0"/>
              <a:t> using the </a:t>
            </a:r>
            <a:r>
              <a:rPr lang="en-US" sz="2000" b="1" dirty="0" err="1"/>
              <a:t>Keras</a:t>
            </a:r>
            <a:r>
              <a:rPr lang="en-US" sz="2000" b="1" dirty="0"/>
              <a:t> Sequential framework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The network structure included </a:t>
            </a:r>
            <a:r>
              <a:rPr lang="en-US" sz="2000" b="1" dirty="0"/>
              <a:t>LSTM (128 units)</a:t>
            </a:r>
            <a:r>
              <a:rPr lang="en-US" sz="2000" dirty="0"/>
              <a:t> followed by </a:t>
            </a:r>
            <a:r>
              <a:rPr lang="en-US" sz="2000" b="1" dirty="0"/>
              <a:t>Dropout</a:t>
            </a:r>
            <a:r>
              <a:rPr lang="en-US" sz="2000" dirty="0"/>
              <a:t> layers and </a:t>
            </a:r>
            <a:r>
              <a:rPr lang="en-US" sz="2000" b="1" dirty="0"/>
              <a:t>Dense layers</a:t>
            </a:r>
            <a:r>
              <a:rPr lang="en-US" sz="2000" dirty="0"/>
              <a:t> with sizes </a:t>
            </a:r>
            <a:r>
              <a:rPr lang="en-US" sz="2000" b="1" dirty="0"/>
              <a:t>64, 32, and 1</a:t>
            </a:r>
            <a:r>
              <a:rPr lang="en-US" sz="2000" dirty="0"/>
              <a:t> for final output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Adopted the </a:t>
            </a:r>
            <a:r>
              <a:rPr lang="en-US" sz="2000" b="1" dirty="0"/>
              <a:t>Adam optimizer</a:t>
            </a:r>
            <a:r>
              <a:rPr lang="en-US" sz="2000" dirty="0"/>
              <a:t> with </a:t>
            </a:r>
            <a:r>
              <a:rPr lang="en-US" sz="2000" b="1" dirty="0"/>
              <a:t>Mean Squared Error (MSE)</a:t>
            </a:r>
            <a:r>
              <a:rPr lang="en-US" sz="2000" dirty="0"/>
              <a:t> as the loss function to ensure stable training.</a:t>
            </a:r>
          </a:p>
          <a:p>
            <a:pPr marL="36900" indent="0">
              <a:buNone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Stored the </a:t>
            </a:r>
            <a:r>
              <a:rPr lang="en-US" sz="2000" b="1" dirty="0"/>
              <a:t>trained model</a:t>
            </a:r>
            <a:r>
              <a:rPr lang="en-US" sz="2000" dirty="0"/>
              <a:t> along with the </a:t>
            </a:r>
            <a:r>
              <a:rPr lang="en-US" sz="2000" b="1" dirty="0"/>
              <a:t>data scalers</a:t>
            </a:r>
            <a:r>
              <a:rPr lang="en-US" sz="2000" dirty="0"/>
              <a:t> for future deployment and inference.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Employed essential libraries like </a:t>
            </a:r>
            <a:r>
              <a:rPr lang="en-US" sz="2000" b="1" dirty="0"/>
              <a:t>TensorFlow</a:t>
            </a:r>
            <a:r>
              <a:rPr lang="en-US" sz="2000" dirty="0"/>
              <a:t>, </a:t>
            </a:r>
            <a:r>
              <a:rPr lang="en-US" sz="2000" b="1" dirty="0" err="1"/>
              <a:t>Keras</a:t>
            </a:r>
            <a:r>
              <a:rPr lang="en-US" sz="2000" dirty="0"/>
              <a:t>, and </a:t>
            </a:r>
            <a:r>
              <a:rPr lang="en-US" sz="2000" b="1" dirty="0"/>
              <a:t>Scikit-learn</a:t>
            </a:r>
            <a:r>
              <a:rPr lang="en-US" sz="2000" dirty="0"/>
              <a:t> for model creation and evaluation.</a:t>
            </a:r>
          </a:p>
          <a:p>
            <a:pPr algn="l">
              <a:defRPr sz="18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602"/>
            <a:ext cx="7772400" cy="1092590"/>
          </a:xfrm>
        </p:spPr>
        <p:txBody>
          <a:bodyPr>
            <a:normAutofit fontScale="90000"/>
          </a:bodyPr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3 – Evaluation and Alert System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D7DAD1F-7104-50BC-6387-1BFB46B648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9151" y="1219677"/>
            <a:ext cx="8553157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model achieved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score above 0.95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excellent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predictive accuracy, along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very low RMSE and MAE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alert mechanism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RUL percentage levels: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Critical: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Remaining Useful Life ≤ 20%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Warning: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20% &lt; RUL ≤ 50%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Normal: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RUL &gt; 50%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alert summaries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visualization reports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  display engine health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Utilized libraries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(metrics)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data analysis and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Milestone 4 – </a:t>
            </a:r>
            <a:r>
              <a:rPr lang="en-IN" dirty="0"/>
              <a:t>Interactive Visualization Dashboard</a:t>
            </a:r>
            <a:endParaRPr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C8D119-1A9A-FA71-A0BF-7038909173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81477"/>
            <a:ext cx="788494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visualization and user interaction.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Enabled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upload test data files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 or TXT format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evaluation.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engine-specific RUL predictions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along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corresponding alert levels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an intuitive layout.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options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download prediction results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alert thresholds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Utilized essential libraries including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backend processing and visualization.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4DC46B-250D-F491-6C8B-C6B3671B9BBD}"/>
              </a:ext>
            </a:extLst>
          </p:cNvPr>
          <p:cNvSpPr/>
          <p:nvPr/>
        </p:nvSpPr>
        <p:spPr>
          <a:xfrm>
            <a:off x="689317" y="478302"/>
            <a:ext cx="7512148" cy="562707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7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BB4F90-FA14-04F8-88F9-7663F00E594B}"/>
              </a:ext>
            </a:extLst>
          </p:cNvPr>
          <p:cNvSpPr/>
          <p:nvPr/>
        </p:nvSpPr>
        <p:spPr>
          <a:xfrm>
            <a:off x="900332" y="240385"/>
            <a:ext cx="7484013" cy="600789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56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4CF95-553F-2760-5A71-54EC04B569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1" y="351692"/>
            <a:ext cx="3813048" cy="543951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E651B0-D553-F9E4-891C-35A5714D02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16553" y="351692"/>
            <a:ext cx="3813048" cy="5439509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1FA8A-8272-4091-8FCF-95EB3B8D8DBD}"/>
              </a:ext>
            </a:extLst>
          </p:cNvPr>
          <p:cNvSpPr/>
          <p:nvPr/>
        </p:nvSpPr>
        <p:spPr>
          <a:xfrm>
            <a:off x="385455" y="351690"/>
            <a:ext cx="4031098" cy="543951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2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en-US" b="1" dirty="0"/>
              <a:t>Evaluation Metrics: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R² Score:</a:t>
            </a:r>
            <a:r>
              <a:rPr lang="en-US" dirty="0"/>
              <a:t> Above 0.95 (high model accuracy)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RMSE:</a:t>
            </a:r>
            <a:r>
              <a:rPr lang="en-US" dirty="0"/>
              <a:t> Significantly low, indicating minimal prediction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MAE:</a:t>
            </a:r>
            <a:r>
              <a:rPr lang="en-US" dirty="0"/>
              <a:t> Low, confirming consistent prediction reliability</a:t>
            </a:r>
          </a:p>
          <a:p>
            <a:pPr>
              <a:buNone/>
            </a:pPr>
            <a:r>
              <a:rPr lang="en-US" b="1" dirty="0"/>
              <a:t>Key Outcomes: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LSTM model</a:t>
            </a:r>
            <a:r>
              <a:rPr lang="en-US" dirty="0"/>
              <a:t> demonstrated </a:t>
            </a:r>
            <a:r>
              <a:rPr lang="en-US" b="1" dirty="0"/>
              <a:t>strong and stable performance</a:t>
            </a:r>
            <a:r>
              <a:rPr lang="en-US" dirty="0"/>
              <a:t> during testing.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Produced </a:t>
            </a:r>
            <a:r>
              <a:rPr lang="en-US" b="1" dirty="0"/>
              <a:t>highly precise RUL estimations</a:t>
            </a:r>
            <a:r>
              <a:rPr lang="en-US" dirty="0"/>
              <a:t> with minimal error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alert mechanism</a:t>
            </a:r>
            <a:r>
              <a:rPr lang="en-US" dirty="0"/>
              <a:t> effectively supported </a:t>
            </a:r>
            <a:r>
              <a:rPr lang="en-US" b="1" dirty="0"/>
              <a:t>timely maintenance decisions</a:t>
            </a:r>
            <a:r>
              <a:rPr lang="en-US" dirty="0"/>
              <a:t> based on prediction levels.</a:t>
            </a:r>
          </a:p>
          <a:p>
            <a:pPr marL="0" indent="0" algn="l">
              <a:buNone/>
              <a:defRPr sz="1800">
                <a:latin typeface="Calibri"/>
              </a:defRPr>
            </a:pPr>
            <a:endParaRPr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E72814-4ACF-C8B1-7486-9BBA69ED60EB}"/>
              </a:ext>
            </a:extLst>
          </p:cNvPr>
          <p:cNvSpPr txBox="1">
            <a:spLocks/>
          </p:cNvSpPr>
          <p:nvPr/>
        </p:nvSpPr>
        <p:spPr>
          <a:xfrm>
            <a:off x="443132" y="623669"/>
            <a:ext cx="7772400" cy="1108782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dirty="0"/>
              <a:t>          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MODel Evaluation and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7626"/>
            <a:ext cx="7772400" cy="970670"/>
          </a:xfrm>
        </p:spPr>
        <p:txBody>
          <a:bodyPr>
            <a:normAutofit/>
          </a:bodyPr>
          <a:lstStyle/>
          <a:p>
            <a:pPr algn="ctr"/>
            <a:r>
              <a:rPr lang="en-IN" sz="4000" b="1" cap="none" spc="235" dirty="0">
                <a:ln>
                  <a:noFill/>
                </a:ln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/>
              </a:rPr>
              <a:t>RESOURCES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C6A37A-D604-E9F8-4AB4-F9B9CB0659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565979"/>
            <a:ext cx="8532055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Dataset: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NASA CMAPSS (Commercial Modular Aero-Propulsion System 	Simulation)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Development Tools: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Notebook, Visual Studio Code,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Libraries &amp; Frameworks: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Pandas, NumPy, Scikit-learn, 	Matplotlib,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&amp; Guides: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TensorFlow &amp;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 Docs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API Reference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Guides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NASA Dataset Description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6238B5-89EE-0124-4C18-9FA2D996268E}"/>
              </a:ext>
            </a:extLst>
          </p:cNvPr>
          <p:cNvSpPr txBox="1"/>
          <p:nvPr/>
        </p:nvSpPr>
        <p:spPr>
          <a:xfrm>
            <a:off x="2432116" y="2698326"/>
            <a:ext cx="4469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5727830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401</TotalTime>
  <Words>769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Calisto MT</vt:lpstr>
      <vt:lpstr>Century Gothic</vt:lpstr>
      <vt:lpstr>Times New Roman</vt:lpstr>
      <vt:lpstr>Wingdings 2</vt:lpstr>
      <vt:lpstr>Slate</vt:lpstr>
      <vt:lpstr>PrognosAI: AI-Driven Predictive Maintenance System Using Time-Series Sensor Data</vt:lpstr>
      <vt:lpstr>Abstract</vt:lpstr>
      <vt:lpstr>PowerPoint Presentation</vt:lpstr>
      <vt:lpstr>Dataset Description</vt:lpstr>
      <vt:lpstr>System Architecture</vt:lpstr>
      <vt:lpstr>Milestone 1 – Data Preparation</vt:lpstr>
      <vt:lpstr>Milestone 2 – Model Development</vt:lpstr>
      <vt:lpstr>Milestone 3 – Evaluation and Alert System</vt:lpstr>
      <vt:lpstr>Milestone 4 – Interactive Visualization Dashboard</vt:lpstr>
      <vt:lpstr>PowerPoint Presentation</vt:lpstr>
      <vt:lpstr>PowerPoint Presentation</vt:lpstr>
      <vt:lpstr>PowerPoint Presentation</vt:lpstr>
      <vt:lpstr>PowerPoint Presentation</vt:lpstr>
      <vt:lpstr>RESOURCES USED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Lenovo</cp:lastModifiedBy>
  <cp:revision>19</cp:revision>
  <dcterms:created xsi:type="dcterms:W3CDTF">2013-01-27T09:14:16Z</dcterms:created>
  <dcterms:modified xsi:type="dcterms:W3CDTF">2025-11-16T15:45:51Z</dcterms:modified>
  <cp:category/>
</cp:coreProperties>
</file>